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7772400" cy="10058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ZOTS1yIm73tNh+kUM4CVt2oPo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30"/>
    <p:restoredTop sz="94658"/>
  </p:normalViewPr>
  <p:slideViewPr>
    <p:cSldViewPr snapToGrid="0">
      <p:cViewPr varScale="1">
        <p:scale>
          <a:sx n="160" d="100"/>
          <a:sy n="160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85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" name="Google Shape;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85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ac7ea2687_0_0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" name="Google Shape;63;g39ac7ea268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54063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54063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9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9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2" name="Google Shape;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9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9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9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6" name="Google Shape;1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9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54063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85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54063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3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subTitle" idx="1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/>
          <p:nvPr/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lang="en-US"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Assignment 4 Writeup</a:t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 NOT TAG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ac7ea2687_0_0"/>
          <p:cNvSpPr txBox="1">
            <a:spLocks noGrp="1"/>
          </p:cNvSpPr>
          <p:nvPr>
            <p:ph type="title"/>
          </p:nvPr>
        </p:nvSpPr>
        <p:spPr>
          <a:xfrm>
            <a:off x="457199" y="71562"/>
            <a:ext cx="8229300" cy="6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</a:rPr>
              <a:t>Variational Autoencoder (VAE) Q1a - MNIST</a:t>
            </a:r>
            <a:endParaRPr sz="1600" b="1" dirty="0">
              <a:solidFill>
                <a:schemeClr val="accent1"/>
              </a:solidFill>
            </a:endParaRPr>
          </a:p>
        </p:txBody>
      </p:sp>
      <p:sp>
        <p:nvSpPr>
          <p:cNvPr id="66" name="Google Shape;66;g39ac7ea2687_0_0"/>
          <p:cNvSpPr txBox="1"/>
          <p:nvPr/>
        </p:nvSpPr>
        <p:spPr>
          <a:xfrm>
            <a:off x="493300" y="943100"/>
            <a:ext cx="8045400" cy="40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Tune all hyperparameters with L2 reconstruction loss.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Keeping hyperparameters constant, switch reconstruction loss to L1.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examples of L1 and L2 </a:t>
            </a:r>
            <a:r>
              <a:rPr lang="en-US" sz="1700" b="1" i="0" u="none" strike="noStrike" cap="none" dirty="0">
                <a:solidFill>
                  <a:schemeClr val="dk1"/>
                </a:solidFill>
              </a:rPr>
              <a:t>recon</a:t>
            </a:r>
            <a:r>
              <a:rPr lang="en-US" sz="1700" b="1" dirty="0">
                <a:solidFill>
                  <a:schemeClr val="dk1"/>
                </a:solidFill>
              </a:rPr>
              <a:t>structions</a:t>
            </a:r>
            <a:r>
              <a:rPr lang="en-US" sz="1700" dirty="0">
                <a:solidFill>
                  <a:schemeClr val="dk1"/>
                </a:solidFill>
              </a:rPr>
              <a:t> (not generated samples)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9ac7ea2687_0_0"/>
          <p:cNvSpPr/>
          <p:nvPr/>
        </p:nvSpPr>
        <p:spPr>
          <a:xfrm>
            <a:off x="4929106" y="2314575"/>
            <a:ext cx="3721594" cy="156625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VAE </a:t>
            </a:r>
            <a:r>
              <a:rPr lang="en-US" sz="1800" dirty="0">
                <a:solidFill>
                  <a:schemeClr val="lt1"/>
                </a:solidFill>
              </a:rPr>
              <a:t>reconstructions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resize to cover this box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9ac7ea2687_0_0"/>
          <p:cNvSpPr/>
          <p:nvPr/>
        </p:nvSpPr>
        <p:spPr>
          <a:xfrm>
            <a:off x="605300" y="2314575"/>
            <a:ext cx="3767612" cy="156625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VAE </a:t>
            </a:r>
            <a:r>
              <a:rPr lang="en-US" sz="1800" dirty="0">
                <a:solidFill>
                  <a:schemeClr val="lt1"/>
                </a:solidFill>
              </a:rPr>
              <a:t>reconstructions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resize to cover this box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>
            <a:spLocks noGrp="1"/>
          </p:cNvSpPr>
          <p:nvPr>
            <p:ph type="title"/>
          </p:nvPr>
        </p:nvSpPr>
        <p:spPr>
          <a:xfrm>
            <a:off x="457199" y="71562"/>
            <a:ext cx="8229300" cy="6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accent1"/>
                </a:solidFill>
              </a:rPr>
              <a:t>Variational Autoencoder (VAE) Q1b - MNIST</a:t>
            </a:r>
            <a:endParaRPr sz="1600" b="1">
              <a:solidFill>
                <a:schemeClr val="accent1"/>
              </a:solidFill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493300" y="943100"/>
            <a:ext cx="8045400" cy="40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lang="en-US" sz="1700" dirty="0">
                <a:solidFill>
                  <a:schemeClr val="dk1"/>
                </a:solidFill>
              </a:rPr>
              <a:t>Tune all hyperparameters with L2 reconstruction loss.</a:t>
            </a:r>
          </a:p>
          <a:p>
            <a:pPr marL="457200" lvl="0" indent="-336550"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lang="en-US" sz="1700" dirty="0">
                <a:solidFill>
                  <a:schemeClr val="dk1"/>
                </a:solidFill>
              </a:rPr>
              <a:t>Keeping hyperparameters constant, switch reconstruction loss to L1.</a:t>
            </a: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</a:t>
            </a:r>
            <a:r>
              <a:rPr lang="en-US" sz="1700" b="1" i="0" u="none" strike="noStrike" cap="none" dirty="0">
                <a:solidFill>
                  <a:schemeClr val="dk1"/>
                </a:solidFill>
              </a:rPr>
              <a:t>Generated Samples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L1 and L2 (</a:t>
            </a:r>
            <a:r>
              <a:rPr lang="en-US" sz="1700" dirty="0">
                <a:solidFill>
                  <a:schemeClr val="dk1"/>
                </a:solidFill>
              </a:rPr>
              <a:t>using </a:t>
            </a:r>
            <a:r>
              <a:rPr lang="en-US" sz="1700" dirty="0" err="1">
                <a:solidFill>
                  <a:schemeClr val="dk1"/>
                </a:solidFill>
              </a:rPr>
              <a:t>generate_images.py</a:t>
            </a:r>
            <a:r>
              <a:rPr lang="en-US" sz="1700" dirty="0">
                <a:solidFill>
                  <a:schemeClr val="dk1"/>
                </a:solidFill>
              </a:rPr>
              <a:t>)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169300" y="1902025"/>
            <a:ext cx="3517200" cy="31218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VAE generated images grid – resize to cover this box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730325" y="1902025"/>
            <a:ext cx="3517200" cy="31218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VAE generated images grid – resize to cover this box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>
            <a:spLocks noGrp="1"/>
          </p:cNvSpPr>
          <p:nvPr>
            <p:ph type="title"/>
          </p:nvPr>
        </p:nvSpPr>
        <p:spPr>
          <a:xfrm>
            <a:off x="457199" y="71562"/>
            <a:ext cx="8229300" cy="6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accent1"/>
                </a:solidFill>
              </a:rPr>
              <a:t>Variational Autoencoder (VAE) Q1 cont.</a:t>
            </a:r>
            <a:endParaRPr sz="1600" b="1">
              <a:solidFill>
                <a:schemeClr val="accent1"/>
              </a:solidFill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493300" y="943100"/>
            <a:ext cx="8045400" cy="40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Explain your observations for VAE with L1 vs L2?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457199" y="71562"/>
            <a:ext cx="8229300" cy="6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accent1"/>
                </a:solidFill>
              </a:rPr>
              <a:t>Variational Autoencoder (VAE) Q2 - MNIST</a:t>
            </a:r>
            <a:endParaRPr sz="1600" b="1">
              <a:solidFill>
                <a:schemeClr val="accent1"/>
              </a:solidFill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493300" y="943100"/>
            <a:ext cx="8045400" cy="40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we optimize for our few-shot setting (KNN classifier) what happens to the quality of generated samples? Share an example and explain your observations.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978306" y="1711856"/>
            <a:ext cx="2631900" cy="24888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VAE generated images grid – resize to cover this box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>
            <a:spLocks noGrp="1"/>
          </p:cNvSpPr>
          <p:nvPr>
            <p:ph type="title"/>
          </p:nvPr>
        </p:nvSpPr>
        <p:spPr>
          <a:xfrm>
            <a:off x="457199" y="71562"/>
            <a:ext cx="8229300" cy="6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accent1"/>
                </a:solidFill>
              </a:rPr>
              <a:t>Generative Adversarial Network - MNIST</a:t>
            </a:r>
            <a:endParaRPr sz="1600" b="1">
              <a:solidFill>
                <a:schemeClr val="accent1"/>
              </a:solidFill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493300" y="943100"/>
            <a:ext cx="4475400" cy="40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is a common failure mode of GAN training termed </a:t>
            </a:r>
            <a:r>
              <a:rPr lang="en-US" sz="1700" b="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 collapse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that is when the generator learns to fool the discriminator producing only a certain subset of P(x). Find hyperparameters that exhibit this failure mode and show generated examples. </a:t>
            </a:r>
            <a:r>
              <a:rPr lang="en-US" sz="1700" dirty="0">
                <a:solidFill>
                  <a:schemeClr val="dk1"/>
                </a:solidFill>
              </a:rPr>
              <a:t>List your hyperparameters that obtained this.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370149" y="842073"/>
            <a:ext cx="3198300" cy="31155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GAN generated images grid – resize to cover this box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>
            <a:spLocks noGrp="1"/>
          </p:cNvSpPr>
          <p:nvPr>
            <p:ph type="title"/>
          </p:nvPr>
        </p:nvSpPr>
        <p:spPr>
          <a:xfrm>
            <a:off x="457199" y="71562"/>
            <a:ext cx="8229300" cy="6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accent1"/>
                </a:solidFill>
              </a:rPr>
              <a:t>Simple Diffusion</a:t>
            </a:r>
            <a:endParaRPr sz="1600" b="1">
              <a:solidFill>
                <a:schemeClr val="accent1"/>
              </a:solidFill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549300" y="1018350"/>
            <a:ext cx="8045400" cy="40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your simple diffusion visualizations here: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518647" y="2517908"/>
            <a:ext cx="2631900" cy="5541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image here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293647" y="2554546"/>
            <a:ext cx="2631900" cy="5541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Simple diffusion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 txBox="1"/>
          <p:nvPr/>
        </p:nvSpPr>
        <p:spPr>
          <a:xfrm>
            <a:off x="457200" y="2017250"/>
            <a:ext cx="22284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0 								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5448000" y="2071500"/>
            <a:ext cx="3238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99 								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>
            <a:spLocks noGrp="1"/>
          </p:cNvSpPr>
          <p:nvPr>
            <p:ph type="title"/>
          </p:nvPr>
        </p:nvSpPr>
        <p:spPr>
          <a:xfrm>
            <a:off x="457199" y="71562"/>
            <a:ext cx="8229300" cy="6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accent1"/>
                </a:solidFill>
              </a:rPr>
              <a:t>DDPM - MNIST</a:t>
            </a:r>
            <a:endParaRPr sz="1600" b="1">
              <a:solidFill>
                <a:schemeClr val="accent1"/>
              </a:solidFill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549300" y="1018350"/>
            <a:ext cx="8045400" cy="40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your forward diffusion visual here (any epoch is fine):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0" y="1969202"/>
            <a:ext cx="9144000" cy="15099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forward diffusion generated images – resize to cover this box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>
            <a:spLocks noGrp="1"/>
          </p:cNvSpPr>
          <p:nvPr>
            <p:ph type="title"/>
          </p:nvPr>
        </p:nvSpPr>
        <p:spPr>
          <a:xfrm>
            <a:off x="457199" y="71562"/>
            <a:ext cx="8229300" cy="6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accent1"/>
                </a:solidFill>
              </a:rPr>
              <a:t>DDPM - MNIST </a:t>
            </a:r>
            <a:endParaRPr sz="1600" b="1">
              <a:solidFill>
                <a:schemeClr val="accent1"/>
              </a:solidFill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549300" y="608550"/>
            <a:ext cx="8045400" cy="40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tuning only noise schedule and timesteps: 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your reverse diffusion visual here </a:t>
            </a:r>
            <a:r>
              <a:rPr lang="en-US" sz="1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(epoch 0)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your reverse diffusion visual here </a:t>
            </a:r>
            <a:r>
              <a:rPr lang="en-US" sz="1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(epoch 9)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10" y="1350302"/>
            <a:ext cx="9144000" cy="15099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reverse diffusion image – resize to cover this box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-140" y="3376077"/>
            <a:ext cx="9144000" cy="15099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reverse diffusion image – resize to cover this box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>
            <a:spLocks noGrp="1"/>
          </p:cNvSpPr>
          <p:nvPr>
            <p:ph type="title"/>
          </p:nvPr>
        </p:nvSpPr>
        <p:spPr>
          <a:xfrm>
            <a:off x="457199" y="71562"/>
            <a:ext cx="8229240" cy="655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accent1"/>
                </a:solidFill>
              </a:rPr>
              <a:t>Tune each model (fashionMNIST) to achieve the best images and show your results:</a:t>
            </a:r>
            <a:br>
              <a:rPr lang="en-US" sz="2000" b="1">
                <a:solidFill>
                  <a:schemeClr val="accent1"/>
                </a:solidFill>
              </a:rPr>
            </a:br>
            <a:endParaRPr sz="1600" b="1">
              <a:solidFill>
                <a:schemeClr val="accent1"/>
              </a:solidFill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1192166" y="508883"/>
            <a:ext cx="7479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9"/>
          <p:cNvSpPr txBox="1"/>
          <p:nvPr/>
        </p:nvSpPr>
        <p:spPr>
          <a:xfrm>
            <a:off x="4229418" y="508883"/>
            <a:ext cx="6848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9"/>
          <p:cNvSpPr txBox="1"/>
          <p:nvPr/>
        </p:nvSpPr>
        <p:spPr>
          <a:xfrm>
            <a:off x="7115922" y="508883"/>
            <a:ext cx="10781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Diffusion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190831" y="1021631"/>
            <a:ext cx="2631882" cy="24887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VAE generated images grid – resize to cover this box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3255878" y="1021631"/>
            <a:ext cx="2631882" cy="24887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GAN generated images grid – resize to cover this box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6320925" y="1021631"/>
            <a:ext cx="2631882" cy="24887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Diffusion generated images grid – resize to cover this box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"/>
          <p:cNvSpPr txBox="1"/>
          <p:nvPr/>
        </p:nvSpPr>
        <p:spPr>
          <a:xfrm>
            <a:off x="588397" y="3840480"/>
            <a:ext cx="11977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FID: ____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3804563" y="3840480"/>
            <a:ext cx="11977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FID: ____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9"/>
          <p:cNvSpPr txBox="1"/>
          <p:nvPr/>
        </p:nvSpPr>
        <p:spPr>
          <a:xfrm>
            <a:off x="7020729" y="3832529"/>
            <a:ext cx="11977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FID: ____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>
            <a:spLocks noGrp="1"/>
          </p:cNvSpPr>
          <p:nvPr>
            <p:ph type="title"/>
          </p:nvPr>
        </p:nvSpPr>
        <p:spPr>
          <a:xfrm>
            <a:off x="457200" y="71547"/>
            <a:ext cx="8183100" cy="8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accent1"/>
                </a:solidFill>
              </a:rPr>
              <a:t>Compare and contrast the results from the different models. Why might we see the results that we see? what role does the target dataset play?</a:t>
            </a:r>
            <a:endParaRPr sz="1600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>
            <a:spLocks noGrp="1"/>
          </p:cNvSpPr>
          <p:nvPr>
            <p:ph type="title"/>
          </p:nvPr>
        </p:nvSpPr>
        <p:spPr>
          <a:xfrm>
            <a:off x="457200" y="71543"/>
            <a:ext cx="8229300" cy="10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</a:rPr>
              <a:t>FID is commonly used to benchmark generative models. Is it a good metric? Why and why not?</a:t>
            </a:r>
            <a:endParaRPr sz="20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11502</TotalTime>
  <Words>481</Words>
  <Application>Microsoft Macintosh PowerPoint</Application>
  <PresentationFormat>On-screen Show (16:9)</PresentationFormat>
  <Paragraphs>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Variational Autoencoder (VAE) Q1a - MNIST</vt:lpstr>
      <vt:lpstr>Variational Autoencoder (VAE) Q1b - MNIST</vt:lpstr>
      <vt:lpstr>Variational Autoencoder (VAE) Q1 cont.</vt:lpstr>
      <vt:lpstr>Variational Autoencoder (VAE) Q2 - MNIST</vt:lpstr>
      <vt:lpstr>Generative Adversarial Network - MNIST</vt:lpstr>
      <vt:lpstr>Simple Diffusion</vt:lpstr>
      <vt:lpstr>DDPM - MNIST</vt:lpstr>
      <vt:lpstr>DDPM - MNIST </vt:lpstr>
      <vt:lpstr>Tune each model (fashionMNIST) to achieve the best images and show your results: </vt:lpstr>
      <vt:lpstr>Compare and contrast the results from the different models. Why might we see the results that we see? what role does the target dataset play?</vt:lpstr>
      <vt:lpstr>FID is commonly used to benchmark generative models. Is it a good metric? Why and why not?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Tepsuporn, Scott P</cp:lastModifiedBy>
  <cp:revision>4</cp:revision>
  <dcterms:modified xsi:type="dcterms:W3CDTF">2026-03-15T20:59:03Z</dcterms:modified>
</cp:coreProperties>
</file>